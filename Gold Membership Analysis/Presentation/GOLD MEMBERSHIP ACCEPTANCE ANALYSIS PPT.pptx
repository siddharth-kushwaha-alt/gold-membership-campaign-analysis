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AA1869-3436-47CB-B948-6CD81B73F41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99FB-73B4-7BCC-807C-513CA27D3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A2F29-1089-DAE7-AD98-5721756E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28068-3478-CE45-74C0-79D8E8D6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D30AB-B8C6-D0F9-5F28-3AE997D21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F2ED3-7D4A-3CF9-1131-3007AD0A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01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374C8-A117-051C-26B0-B709EC28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6A5B9-DB78-A251-81BF-C828E02AF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EAB1F-19EF-9B3A-D337-42177F42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D5F69-B803-A101-52B1-32AFD573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7224D-0AF2-2230-E947-AE6B9090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1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449F-3C2A-F501-B441-53E0679F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3A6E8-DECB-3BDA-41C2-1ADD002AA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10607-4DB2-6760-7CAB-EE9E0A069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5D705-E4FF-3A86-8CDB-8D32BE94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04971-6A35-E830-E64A-62A6F9AFA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8429-2ADC-B7DB-A612-C1360591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71343-7FBE-A1C6-C9E9-C11859B15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11671-2CB0-B31D-4EC9-5C4BB538F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29436-32C8-05D2-2932-7773F993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715F9-1F81-9D6C-7BEF-EC5E7542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A2535-820A-08F3-C47A-20A1812D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6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83258-395D-6519-3838-72350BE3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8C8D5-A77F-49CF-B5FC-B3A8FCC45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2D16C-F0AF-4914-2083-378BCCD62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02EA2-5377-898A-8326-6AADC4EFA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0FBBA-A4FF-F907-3FBF-F1D8B128A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2D578-631B-AD5E-1736-07500A95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303DA9-D9A6-D4C0-ED2E-9B72BFAB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05396-FA92-1A12-6B0C-4AF68B2D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43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CC48-FF39-F5EB-636C-939EA3C72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54223-925E-CB29-C4E9-DD19A313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A12C2-759D-6A71-0D50-FA91F3D2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9EEC2-B471-B3A9-5B97-F01BCE12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5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DE7D3-A890-49D7-2F75-37697F46F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AFCE3-38B5-3943-44F4-EB84F682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905EB-BC40-F706-62B2-62119C20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5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DBF6-ED23-2D42-1F82-7D75AE047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F4D86-A325-BFF8-4F90-181DA138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E2740-5D60-F02C-764D-C06C5649F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F6C74-CBC9-B83D-13CA-33C46DF53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FD41D-CC1F-F673-DD99-555564CD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12A05-15AE-BF5F-127F-9B232FA4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5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796CE-2763-9047-F168-9C5867B30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698E5-17A1-40FF-D2E5-FB5B942DE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5CFEB-A09B-C843-3BB6-88A665616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A0A95-D7A4-4182-A945-EECBA684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E4195-42D9-9848-8994-A39D266C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E0665-E153-C606-9F48-127A75FB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0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5FD9-4068-6C8A-CE70-DF4FC2AD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A78E5-4F7F-3A5D-8829-27A7D118F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67DC0-07C3-6307-C8A0-C078D1EE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92945-46A1-CC17-DEE0-C97D6A8C6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5E810-F559-09C5-C31B-58BD433C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9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52D84-D317-12C0-798D-BA71D480B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54593-B5A8-4428-6494-C96F9E479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22FA0-73F5-0500-F720-77CC574C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FA06A-942E-B2F9-8145-4193C98D8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B6FDD-47C5-6B12-62F4-B621CA1A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47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3427A-E940-3D68-D2C4-D5970498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032B1-0397-505C-08A8-EE9EFDE4A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BCADF-E225-73C7-A527-98C9C3D4A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A299-E5C4-4F54-8C4F-F65C7F3966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EB833-B176-D3F2-6903-4810596CB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7BE5E-0179-6724-EBCA-4C142E59B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62A8-1F3C-4208-B326-5B117315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6DEF-A473-10FB-00CA-03C34FAFC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GOLD MEMBERSHIP ACCEPTANCE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BD9C8-081B-25F6-1160-E017198F2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81161"/>
            <a:ext cx="12192000" cy="3255962"/>
          </a:xfrm>
        </p:spPr>
        <p:txBody>
          <a:bodyPr>
            <a:normAutofit/>
          </a:bodyPr>
          <a:lstStyle/>
          <a:p>
            <a:r>
              <a:rPr lang="en-US" b="1" dirty="0"/>
              <a:t>CAPSTONE PROJECT</a:t>
            </a:r>
          </a:p>
          <a:p>
            <a:r>
              <a:rPr lang="en-US" b="1" dirty="0"/>
              <a:t>Objective: </a:t>
            </a:r>
          </a:p>
          <a:p>
            <a:pPr lvl="1"/>
            <a:r>
              <a:rPr lang="en-US" sz="2600" b="1" dirty="0"/>
              <a:t>.</a:t>
            </a:r>
            <a:r>
              <a:rPr lang="en-US" b="1" dirty="0"/>
              <a:t>Identify factors influencing Gold Membership acceptance. </a:t>
            </a:r>
          </a:p>
          <a:p>
            <a:pPr lvl="1"/>
            <a:r>
              <a:rPr lang="en-US" b="1" dirty="0"/>
              <a:t>. Understand customer behavior. </a:t>
            </a:r>
          </a:p>
          <a:p>
            <a:pPr lvl="1"/>
            <a:r>
              <a:rPr lang="en-US" b="1" dirty="0"/>
              <a:t>. Recommend strategies to improve membership adoption.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NAME : SIDDHARTH KUSHWAHA </a:t>
            </a:r>
          </a:p>
          <a:p>
            <a:pPr lvl="1"/>
            <a:r>
              <a:rPr lang="en-US" b="1" dirty="0"/>
              <a:t>LEARNER ID: 24CRD02528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697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87AE-C597-922F-4206-DB75D70A3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75"/>
            <a:ext cx="10515600" cy="2005781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</a:rPr>
              <a:t>Insight 1</a:t>
            </a:r>
            <a:br>
              <a:rPr lang="en-US" sz="4000" b="1" dirty="0">
                <a:latin typeface="+mn-lt"/>
              </a:rPr>
            </a:br>
            <a:r>
              <a:rPr lang="en-US" sz="4000" b="1" dirty="0">
                <a:latin typeface="+mn-lt"/>
              </a:rPr>
              <a:t>High-Income Customers Are Most Likely to Accept Gold Membership</a:t>
            </a:r>
            <a:br>
              <a:rPr lang="en-US" sz="4000" b="1" dirty="0">
                <a:latin typeface="+mn-lt"/>
              </a:rPr>
            </a:br>
            <a:endParaRPr lang="en-US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5F521-A9D8-A287-7D60-C245F9CE0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8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Finding</a:t>
            </a:r>
          </a:p>
          <a:p>
            <a:pPr marL="0" indent="0">
              <a:buNone/>
            </a:pPr>
            <a:r>
              <a:rPr lang="en-US" sz="2000" dirty="0"/>
              <a:t>High-income customers show a 33.7% acceptance rate. Nearly 3x higher than low-income customers (12.1%).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Business Impact</a:t>
            </a:r>
          </a:p>
          <a:p>
            <a:pPr marL="0" indent="0">
              <a:buNone/>
            </a:pPr>
            <a:r>
              <a:rPr lang="en-US" sz="2000" dirty="0"/>
              <a:t>Income is a strong predictor of membership acceptance.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Recommendation</a:t>
            </a:r>
          </a:p>
          <a:p>
            <a:pPr marL="0" indent="0">
              <a:buNone/>
            </a:pPr>
            <a:r>
              <a:rPr lang="en-US" sz="2000" dirty="0"/>
              <a:t>Launch premium campaigns targeted at high-income customers. Offer exclusive benefits and loyalty rewards.	</a:t>
            </a:r>
          </a:p>
        </p:txBody>
      </p:sp>
    </p:spTree>
    <p:extLst>
      <p:ext uri="{BB962C8B-B14F-4D97-AF65-F5344CB8AC3E}">
        <p14:creationId xmlns:p14="http://schemas.microsoft.com/office/powerpoint/2010/main" val="70809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BF8E-01CD-96EE-847A-61FE1EC6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155"/>
            <a:ext cx="12192000" cy="158253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Insight 2-:</a:t>
            </a:r>
            <a:br>
              <a:rPr lang="en-US" b="1" dirty="0"/>
            </a:br>
            <a:r>
              <a:rPr lang="en-US" b="1" dirty="0"/>
              <a:t>Customers With PhDs Have the Highest Acceptance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1A8B-65B2-E282-4DF6-38DC0D36F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73697" cy="5106117"/>
          </a:xfrm>
        </p:spPr>
        <p:txBody>
          <a:bodyPr/>
          <a:lstStyle/>
          <a:p>
            <a:r>
              <a:rPr lang="en-US" b="1" dirty="0"/>
              <a:t>Finding</a:t>
            </a:r>
          </a:p>
          <a:p>
            <a:r>
              <a:rPr lang="en-US" dirty="0"/>
              <a:t>PhD holders show the highest acceptance rate (36%).Acceptance decreases as education level decreases.</a:t>
            </a:r>
          </a:p>
          <a:p>
            <a:r>
              <a:rPr lang="en-US" b="1" dirty="0"/>
              <a:t>Business Impact</a:t>
            </a:r>
          </a:p>
          <a:p>
            <a:r>
              <a:rPr lang="en-US" dirty="0"/>
              <a:t>Highly educated customers perceive greater value in premium memberships.</a:t>
            </a:r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Use detailed, value-focused marketing </a:t>
            </a:r>
            <a:r>
              <a:rPr lang="en-US" dirty="0" err="1"/>
              <a:t>messages.Highlight</a:t>
            </a:r>
            <a:r>
              <a:rPr lang="en-US" dirty="0"/>
              <a:t> long-term benefits and exclusivity.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25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AFD9-0273-0527-6ED1-27B2E984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Insight 3-:</a:t>
            </a:r>
            <a:br>
              <a:rPr lang="en-US" b="1" dirty="0"/>
            </a:br>
            <a:r>
              <a:rPr lang="en-US" b="1" dirty="0"/>
              <a:t>Married Customers Respond Better to Membership Offers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B631-30B2-FACE-FA55-71D06639B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Finding</a:t>
            </a:r>
          </a:p>
          <a:p>
            <a:r>
              <a:rPr lang="en-US" dirty="0"/>
              <a:t>Married customers have the highest acceptance rate </a:t>
            </a:r>
            <a:r>
              <a:rPr lang="en-US" b="1" dirty="0"/>
              <a:t>(25.1%).</a:t>
            </a:r>
            <a:r>
              <a:rPr lang="en-US" dirty="0"/>
              <a:t>Customers living alone have the lowest acceptance rate </a:t>
            </a:r>
            <a:r>
              <a:rPr lang="en-US" b="1" dirty="0"/>
              <a:t>(10.8%).</a:t>
            </a:r>
          </a:p>
          <a:p>
            <a:r>
              <a:rPr lang="en-US" b="1" dirty="0"/>
              <a:t>Business Impact-:</a:t>
            </a:r>
          </a:p>
          <a:p>
            <a:r>
              <a:rPr lang="en-US" dirty="0"/>
              <a:t>Family-oriented customers value membership benefits more.</a:t>
            </a:r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Introduce family rewards and household discounts.</a:t>
            </a:r>
          </a:p>
        </p:txBody>
      </p:sp>
    </p:spTree>
    <p:extLst>
      <p:ext uri="{BB962C8B-B14F-4D97-AF65-F5344CB8AC3E}">
        <p14:creationId xmlns:p14="http://schemas.microsoft.com/office/powerpoint/2010/main" val="215124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A01A-0205-FB3A-0FCE-8FB9E6134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Insight 4 -:</a:t>
            </a:r>
            <a:br>
              <a:rPr lang="en-US" b="1" dirty="0"/>
            </a:br>
            <a:r>
              <a:rPr lang="en-US" b="1" dirty="0"/>
              <a:t>Total Spending Strongly Influences Membership Acceptance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91D5F-2D25-14EF-4BA7-56086633B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Finding</a:t>
            </a:r>
          </a:p>
          <a:p>
            <a:r>
              <a:rPr lang="en-US" dirty="0"/>
              <a:t>Strong positive relationship between spending and acceptance. Higher-spending customers are significantly more likely to join.</a:t>
            </a:r>
          </a:p>
          <a:p>
            <a:r>
              <a:rPr lang="en-US" b="1" dirty="0"/>
              <a:t>Business Impact</a:t>
            </a:r>
          </a:p>
          <a:p>
            <a:r>
              <a:rPr lang="en-US" dirty="0"/>
              <a:t>High-value customers represent the best conversion opportunity.</a:t>
            </a:r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Prioritize membership offers to top spenders.</a:t>
            </a:r>
          </a:p>
        </p:txBody>
      </p:sp>
    </p:spTree>
    <p:extLst>
      <p:ext uri="{BB962C8B-B14F-4D97-AF65-F5344CB8AC3E}">
        <p14:creationId xmlns:p14="http://schemas.microsoft.com/office/powerpoint/2010/main" val="352931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636B-EF4A-F593-46C0-1E8D975A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 5 -:</a:t>
            </a:r>
            <a:br>
              <a:rPr lang="en-US" b="1" dirty="0"/>
            </a:br>
            <a:r>
              <a:rPr lang="en-US" b="1" dirty="0"/>
              <a:t>Recency Negatively Impacts Acceptance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A900-DFA9-862A-7AC0-17A48BDB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Finding</a:t>
            </a:r>
          </a:p>
          <a:p>
            <a:r>
              <a:rPr lang="en-US" dirty="0"/>
              <a:t>Customers who purchased recently are more likely to accept membership. Acceptance drops as recency increases.</a:t>
            </a:r>
          </a:p>
          <a:p>
            <a:r>
              <a:rPr lang="en-US" b="1" dirty="0"/>
              <a:t>Business Impact</a:t>
            </a:r>
          </a:p>
          <a:p>
            <a:r>
              <a:rPr lang="en-US" dirty="0"/>
              <a:t>Customer engagement decreases over time.</a:t>
            </a:r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Send membership offers within 30 days of purchase.</a:t>
            </a:r>
          </a:p>
        </p:txBody>
      </p:sp>
    </p:spTree>
    <p:extLst>
      <p:ext uri="{BB962C8B-B14F-4D97-AF65-F5344CB8AC3E}">
        <p14:creationId xmlns:p14="http://schemas.microsoft.com/office/powerpoint/2010/main" val="2130691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FB669-C009-DAAE-76F6-B769F8D5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Insight 6</a:t>
            </a:r>
            <a:br>
              <a:rPr lang="en-US" b="1" dirty="0"/>
            </a:br>
            <a:r>
              <a:rPr lang="en-US" b="1" dirty="0"/>
              <a:t>Income and Spending Together Create the Ideal Customer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4FD96-262E-CC7B-0A68-386A984FC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Finding</a:t>
            </a:r>
          </a:p>
          <a:p>
            <a:pPr lvl="1"/>
            <a:r>
              <a:rPr lang="en-US" dirty="0"/>
              <a:t>High-income and high-spending customers show the strongest membership adoption</a:t>
            </a:r>
            <a:r>
              <a:rPr lang="en-US" b="1" dirty="0"/>
              <a:t>.</a:t>
            </a:r>
          </a:p>
          <a:p>
            <a:pPr lvl="1"/>
            <a:r>
              <a:rPr lang="en-US" b="1" dirty="0"/>
              <a:t>Business Impact</a:t>
            </a:r>
          </a:p>
          <a:p>
            <a:pPr lvl="1"/>
            <a:r>
              <a:rPr lang="en-US" dirty="0"/>
              <a:t>This segment generates the highest ROI.</a:t>
            </a:r>
          </a:p>
          <a:p>
            <a:pPr lvl="1"/>
            <a:r>
              <a:rPr lang="en-US" b="1" dirty="0"/>
              <a:t>Recommendation</a:t>
            </a:r>
          </a:p>
          <a:p>
            <a:pPr lvl="1"/>
            <a:r>
              <a:rPr lang="en-US" dirty="0"/>
              <a:t>Create a VIP membership acquisition campaign.</a:t>
            </a:r>
          </a:p>
        </p:txBody>
      </p:sp>
    </p:spTree>
    <p:extLst>
      <p:ext uri="{BB962C8B-B14F-4D97-AF65-F5344CB8AC3E}">
        <p14:creationId xmlns:p14="http://schemas.microsoft.com/office/powerpoint/2010/main" val="1378448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3929-A478-B245-9C1B-482F4228B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8825"/>
            <a:ext cx="10515600" cy="17595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Insight 7</a:t>
            </a:r>
            <a:br>
              <a:rPr lang="en-US" b="1" dirty="0"/>
            </a:br>
            <a:r>
              <a:rPr lang="en-US" b="1" dirty="0"/>
              <a:t>Low-Income Customers Show Low Acceptance Despite Marketing Efforts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B24EC-FC7B-AE0A-651E-B369E7CCE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Finding</a:t>
            </a:r>
          </a:p>
          <a:p>
            <a:r>
              <a:rPr lang="en-US" dirty="0"/>
              <a:t>Only 12.1% acceptance among low-income customers.</a:t>
            </a:r>
          </a:p>
          <a:p>
            <a:r>
              <a:rPr lang="en-US" b="1" dirty="0"/>
              <a:t>Business Impact</a:t>
            </a:r>
          </a:p>
          <a:p>
            <a:r>
              <a:rPr lang="en-US" dirty="0"/>
              <a:t>Current membership pricing may be perceived as expensive.</a:t>
            </a:r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Introduce a Basic Membership tier. Offer trial periods and discounts.</a:t>
            </a:r>
          </a:p>
        </p:txBody>
      </p:sp>
    </p:spTree>
    <p:extLst>
      <p:ext uri="{BB962C8B-B14F-4D97-AF65-F5344CB8AC3E}">
        <p14:creationId xmlns:p14="http://schemas.microsoft.com/office/powerpoint/2010/main" val="1647093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2B28-5767-AFEF-812C-562C427E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C90F-28E7-426D-358B-4EC1EB2C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Insight 8</a:t>
            </a:r>
            <a:br>
              <a:rPr lang="en-US" b="1" dirty="0"/>
            </a:br>
            <a:r>
              <a:rPr lang="en-US" b="1" dirty="0"/>
              <a:t>Customer Value Is a Better Predictor Than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67A50-FE9B-5873-495E-F6F40E0EB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Finding</a:t>
            </a:r>
          </a:p>
          <a:p>
            <a:r>
              <a:rPr lang="en-US" dirty="0"/>
              <a:t>Spending and recency show stronger relationships than marital status.</a:t>
            </a:r>
          </a:p>
          <a:p>
            <a:r>
              <a:rPr lang="en-US" b="1" dirty="0"/>
              <a:t>Business Impact</a:t>
            </a:r>
          </a:p>
          <a:p>
            <a:r>
              <a:rPr lang="en-US" dirty="0"/>
              <a:t>Behavioral variables outperform demographic variables.</a:t>
            </a:r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Focus future marketing on customer behavior.</a:t>
            </a:r>
          </a:p>
        </p:txBody>
      </p:sp>
    </p:spTree>
    <p:extLst>
      <p:ext uri="{BB962C8B-B14F-4D97-AF65-F5344CB8AC3E}">
        <p14:creationId xmlns:p14="http://schemas.microsoft.com/office/powerpoint/2010/main" val="3515728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15B9-ABBC-5461-3D0D-7CE0F01F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6906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Insight 9</a:t>
            </a:r>
            <a:br>
              <a:rPr lang="en-US" b="1" dirty="0"/>
            </a:br>
            <a:r>
              <a:rPr lang="en-US" b="1" dirty="0"/>
              <a:t>Predictive Customer Profile for Gold Membership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6A8D-4BA7-22B0-F65A-F0E57261B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24104"/>
          </a:xfrm>
        </p:spPr>
        <p:txBody>
          <a:bodyPr/>
          <a:lstStyle/>
          <a:p>
            <a:r>
              <a:rPr lang="en-US" i="1" dirty="0"/>
              <a:t>Ideal Customer</a:t>
            </a:r>
          </a:p>
          <a:p>
            <a:r>
              <a:rPr lang="en-US" i="1" dirty="0"/>
              <a:t>High Income</a:t>
            </a:r>
          </a:p>
          <a:p>
            <a:r>
              <a:rPr lang="en-US" i="1" dirty="0"/>
              <a:t>High Spending</a:t>
            </a:r>
          </a:p>
          <a:p>
            <a:r>
              <a:rPr lang="en-US" i="1" dirty="0"/>
              <a:t>Recent Purchaser</a:t>
            </a:r>
          </a:p>
          <a:p>
            <a:r>
              <a:rPr lang="en-US" i="1" dirty="0"/>
              <a:t>Married</a:t>
            </a:r>
          </a:p>
          <a:p>
            <a:r>
              <a:rPr lang="en-US" i="1" dirty="0"/>
              <a:t>Highly Educated</a:t>
            </a:r>
          </a:p>
          <a:p>
            <a:r>
              <a:rPr lang="en-US" b="1" dirty="0"/>
              <a:t>Business Impact</a:t>
            </a:r>
          </a:p>
          <a:p>
            <a:r>
              <a:rPr lang="en-US" dirty="0"/>
              <a:t>This profile represents the highest probability of conversion.</a:t>
            </a:r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Build predictive targeting models around this profile.</a:t>
            </a:r>
          </a:p>
        </p:txBody>
      </p:sp>
    </p:spTree>
    <p:extLst>
      <p:ext uri="{BB962C8B-B14F-4D97-AF65-F5344CB8AC3E}">
        <p14:creationId xmlns:p14="http://schemas.microsoft.com/office/powerpoint/2010/main" val="746226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456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GOLD MEMBERSHIP ACCEPTANCE ANALYSIS</vt:lpstr>
      <vt:lpstr>Insight 1 High-Income Customers Are Most Likely to Accept Gold Membership </vt:lpstr>
      <vt:lpstr>Insight 2-: Customers With PhDs Have the Highest Acceptance Rate</vt:lpstr>
      <vt:lpstr>Insight 3-: Married Customers Respond Better to Membership Offers</vt:lpstr>
      <vt:lpstr>Insight 4 -: Total Spending Strongly Influences Membership Acceptance</vt:lpstr>
      <vt:lpstr>Insight 5 -: Recency Negatively Impacts Acceptance</vt:lpstr>
      <vt:lpstr>Insight 6 Income and Spending Together Create the Ideal Customer Segment</vt:lpstr>
      <vt:lpstr>Insight 7 Low-Income Customers Show Low Acceptance Despite Marketing Efforts</vt:lpstr>
      <vt:lpstr>Insight 8 Customer Value Is a Better Predictor Than Demographics</vt:lpstr>
      <vt:lpstr>Insight 9 Predictive Customer Profile for Gold Membership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kushwaha</dc:creator>
  <cp:lastModifiedBy>Siddharth kushwaha</cp:lastModifiedBy>
  <cp:revision>1</cp:revision>
  <dcterms:created xsi:type="dcterms:W3CDTF">2026-06-14T17:53:03Z</dcterms:created>
  <dcterms:modified xsi:type="dcterms:W3CDTF">2026-06-14T17:55:56Z</dcterms:modified>
</cp:coreProperties>
</file>